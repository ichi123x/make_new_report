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5364" r:id="rId1"/>
  </p:sldMasterIdLst>
  <p:notesMasterIdLst>
    <p:notesMasterId r:id="rId16"/>
  </p:notesMasterIdLst>
  <p:sldIdLst>
    <p:sldId id="300" r:id="rId2"/>
    <p:sldId id="390" r:id="rId3"/>
    <p:sldId id="325" r:id="rId4"/>
    <p:sldId id="322" r:id="rId5"/>
    <p:sldId id="525" r:id="rId6"/>
    <p:sldId id="553" r:id="rId7"/>
    <p:sldId id="555" r:id="rId8"/>
    <p:sldId id="579" r:id="rId9"/>
    <p:sldId id="589" r:id="rId10"/>
    <p:sldId id="590" r:id="rId11"/>
    <p:sldId id="591" r:id="rId12"/>
    <p:sldId id="592" r:id="rId13"/>
    <p:sldId id="593" r:id="rId14"/>
    <p:sldId id="594" r:id="rId15"/>
  </p:sldIdLst>
  <p:sldSz cx="9906000" cy="6858000" type="A4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メイリオ" panose="020B060403050404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66FF"/>
    <a:srgbClr val="FF9966"/>
    <a:srgbClr val="D60093"/>
    <a:srgbClr val="FF00FF"/>
    <a:srgbClr val="FFFFCC"/>
    <a:srgbClr val="5BF62A"/>
    <a:srgbClr val="A7FBA5"/>
    <a:srgbClr val="B50B9D"/>
    <a:srgbClr val="CB36D6"/>
    <a:srgbClr val="C887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11" autoAdjust="0"/>
    <p:restoredTop sz="93409" autoAdjust="0"/>
  </p:normalViewPr>
  <p:slideViewPr>
    <p:cSldViewPr snapToGrid="0">
      <p:cViewPr varScale="1">
        <p:scale>
          <a:sx n="63" d="100"/>
          <a:sy n="63" d="100"/>
        </p:scale>
        <p:origin x="1094" y="48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19413" cy="493713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DC7B9147-54EC-41BF-AFE0-185258864062}" type="datetimeFigureOut">
              <a:rPr lang="ja-JP" altLang="en-US"/>
              <a:pPr>
                <a:defRPr/>
              </a:pPr>
              <a:t>2026/6/19</a:t>
            </a:fld>
            <a:endParaRPr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101" y="4686300"/>
            <a:ext cx="5389563" cy="4440238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371013"/>
            <a:ext cx="2919413" cy="493712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wrap="square" lIns="91426" tIns="45713" rIns="91426" bIns="4571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  <a:ea typeface="ＭＳ Ｐゴシック" panose="020B0600070205080204" pitchFamily="50" charset="-128"/>
              </a:defRPr>
            </a:lvl1pPr>
          </a:lstStyle>
          <a:p>
            <a:pPr>
              <a:defRPr/>
            </a:pPr>
            <a:fld id="{5BC94BFD-082C-45C6-8A2F-D9D293A197E0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709069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gi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/>
          <p:cNvCxnSpPr/>
          <p:nvPr userDrawn="1"/>
        </p:nvCxnSpPr>
        <p:spPr>
          <a:xfrm>
            <a:off x="858838" y="3457575"/>
            <a:ext cx="8113712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正方形/長方形 9"/>
          <p:cNvSpPr>
            <a:spLocks noChangeArrowheads="1"/>
          </p:cNvSpPr>
          <p:nvPr userDrawn="1"/>
        </p:nvSpPr>
        <p:spPr bwMode="auto">
          <a:xfrm>
            <a:off x="6702425" y="6642100"/>
            <a:ext cx="3203575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9pPr>
          </a:lstStyle>
          <a:p>
            <a:pPr eaLnBrk="1" hangingPunct="1"/>
            <a:r>
              <a:rPr lang="ja-JP" altLang="en-US" sz="800">
                <a:latin typeface="小塚明朝 Pro H" pitchFamily="18" charset="-128"/>
                <a:ea typeface="小塚明朝 Pro H" pitchFamily="18" charset="-128"/>
                <a:cs typeface="Meiryo UI" panose="020B0604030504040204" pitchFamily="50" charset="-128"/>
              </a:rPr>
              <a:t>Copyright (C)  JOHNAN Corporation All Rights Reserved. </a:t>
            </a:r>
            <a:endParaRPr lang="en-US" altLang="ja-JP" sz="800">
              <a:latin typeface="小塚明朝 Pro H" pitchFamily="18" charset="-128"/>
              <a:ea typeface="小塚明朝 Pro H" pitchFamily="18" charset="-128"/>
              <a:cs typeface="Meiryo UI" panose="020B0604030504040204" pitchFamily="50" charset="-128"/>
            </a:endParaRPr>
          </a:p>
        </p:txBody>
      </p:sp>
      <p:sp>
        <p:nvSpPr>
          <p:cNvPr id="11" name="タイトル 10"/>
          <p:cNvSpPr>
            <a:spLocks noGrp="1"/>
          </p:cNvSpPr>
          <p:nvPr>
            <p:ph type="title"/>
          </p:nvPr>
        </p:nvSpPr>
        <p:spPr>
          <a:xfrm>
            <a:off x="516565" y="2732575"/>
            <a:ext cx="8915400" cy="715889"/>
          </a:xfrm>
        </p:spPr>
        <p:txBody>
          <a:bodyPr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pic>
        <p:nvPicPr>
          <p:cNvPr id="9" name="Picture 2" descr="?R???X?L?????e?N?m">
            <a:extLst>
              <a:ext uri="{FF2B5EF4-FFF2-40B4-BE49-F238E27FC236}">
                <a16:creationId xmlns:a16="http://schemas.microsoft.com/office/drawing/2014/main" id="{CFEEE2B0-F2C8-9D17-2C79-960686BFAEF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282" y="6393241"/>
            <a:ext cx="1239352" cy="464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図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39748"/>
            <a:ext cx="1904370" cy="4231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83928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525" y="-14288"/>
            <a:ext cx="9928225" cy="6877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2" descr="C:\Users\y.takahashi\Desktop\PPTアンダーバー.p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313" y="6570663"/>
            <a:ext cx="7913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正方形/長方形 11"/>
          <p:cNvSpPr>
            <a:spLocks noChangeArrowheads="1"/>
          </p:cNvSpPr>
          <p:nvPr userDrawn="1"/>
        </p:nvSpPr>
        <p:spPr bwMode="auto">
          <a:xfrm>
            <a:off x="3351213" y="6642100"/>
            <a:ext cx="3687762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9pPr>
          </a:lstStyle>
          <a:p>
            <a:pPr eaLnBrk="1" hangingPunct="1"/>
            <a:r>
              <a:rPr lang="ja-JP" altLang="en-US" sz="800">
                <a:solidFill>
                  <a:schemeClr val="bg1"/>
                </a:solidFill>
                <a:latin typeface="小塚明朝 Pro R" pitchFamily="18" charset="-128"/>
                <a:ea typeface="小塚明朝 Pro R" pitchFamily="18" charset="-128"/>
                <a:cs typeface="Segoe UI" panose="020B0502040204020203" pitchFamily="34" charset="0"/>
              </a:rPr>
              <a:t>Copyright (C)  JOHNAN Corporation All Rights Reserved. </a:t>
            </a:r>
            <a:endParaRPr lang="en-US" altLang="ja-JP" sz="800">
              <a:solidFill>
                <a:schemeClr val="bg1"/>
              </a:solidFill>
              <a:latin typeface="小塚明朝 Pro R" pitchFamily="18" charset="-128"/>
              <a:ea typeface="小塚明朝 Pro R" pitchFamily="18" charset="-128"/>
              <a:cs typeface="Segoe UI" panose="020B0502040204020203" pitchFamily="34" charset="0"/>
            </a:endParaRPr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" y="136569"/>
            <a:ext cx="8172448" cy="539942"/>
          </a:xfrm>
          <a:custGeom>
            <a:avLst/>
            <a:gdLst>
              <a:gd name="connsiteX0" fmla="*/ 0 w 3835160"/>
              <a:gd name="connsiteY0" fmla="*/ 0 h 503238"/>
              <a:gd name="connsiteX1" fmla="*/ 3751285 w 3835160"/>
              <a:gd name="connsiteY1" fmla="*/ 0 h 503238"/>
              <a:gd name="connsiteX2" fmla="*/ 3835160 w 3835160"/>
              <a:gd name="connsiteY2" fmla="*/ 83875 h 503238"/>
              <a:gd name="connsiteX3" fmla="*/ 3835160 w 3835160"/>
              <a:gd name="connsiteY3" fmla="*/ 503238 h 503238"/>
              <a:gd name="connsiteX4" fmla="*/ 0 w 3835160"/>
              <a:gd name="connsiteY4" fmla="*/ 503238 h 503238"/>
              <a:gd name="connsiteX5" fmla="*/ 0 w 3835160"/>
              <a:gd name="connsiteY5" fmla="*/ 0 h 503238"/>
              <a:gd name="connsiteX0" fmla="*/ 0 w 4269124"/>
              <a:gd name="connsiteY0" fmla="*/ 0 h 503238"/>
              <a:gd name="connsiteX1" fmla="*/ 3751285 w 4269124"/>
              <a:gd name="connsiteY1" fmla="*/ 0 h 503238"/>
              <a:gd name="connsiteX2" fmla="*/ 3835160 w 4269124"/>
              <a:gd name="connsiteY2" fmla="*/ 503238 h 503238"/>
              <a:gd name="connsiteX3" fmla="*/ 0 w 4269124"/>
              <a:gd name="connsiteY3" fmla="*/ 503238 h 503238"/>
              <a:gd name="connsiteX4" fmla="*/ 0 w 4269124"/>
              <a:gd name="connsiteY4" fmla="*/ 0 h 503238"/>
              <a:gd name="connsiteX0" fmla="*/ 0 w 4289089"/>
              <a:gd name="connsiteY0" fmla="*/ 0 h 503238"/>
              <a:gd name="connsiteX1" fmla="*/ 3751285 w 4289089"/>
              <a:gd name="connsiteY1" fmla="*/ 0 h 503238"/>
              <a:gd name="connsiteX2" fmla="*/ 3835160 w 4289089"/>
              <a:gd name="connsiteY2" fmla="*/ 503238 h 503238"/>
              <a:gd name="connsiteX3" fmla="*/ 0 w 4289089"/>
              <a:gd name="connsiteY3" fmla="*/ 503238 h 503238"/>
              <a:gd name="connsiteX4" fmla="*/ 0 w 4289089"/>
              <a:gd name="connsiteY4" fmla="*/ 0 h 503238"/>
              <a:gd name="connsiteX0" fmla="*/ 0 w 4103005"/>
              <a:gd name="connsiteY0" fmla="*/ 0 h 503238"/>
              <a:gd name="connsiteX1" fmla="*/ 3190303 w 4103005"/>
              <a:gd name="connsiteY1" fmla="*/ 0 h 503238"/>
              <a:gd name="connsiteX2" fmla="*/ 3835160 w 4103005"/>
              <a:gd name="connsiteY2" fmla="*/ 503238 h 503238"/>
              <a:gd name="connsiteX3" fmla="*/ 0 w 4103005"/>
              <a:gd name="connsiteY3" fmla="*/ 503238 h 503238"/>
              <a:gd name="connsiteX4" fmla="*/ 0 w 4103005"/>
              <a:gd name="connsiteY4" fmla="*/ 0 h 503238"/>
              <a:gd name="connsiteX0" fmla="*/ 0 w 3836725"/>
              <a:gd name="connsiteY0" fmla="*/ 0 h 503238"/>
              <a:gd name="connsiteX1" fmla="*/ 3190303 w 3836725"/>
              <a:gd name="connsiteY1" fmla="*/ 0 h 503238"/>
              <a:gd name="connsiteX2" fmla="*/ 3835160 w 3836725"/>
              <a:gd name="connsiteY2" fmla="*/ 503238 h 503238"/>
              <a:gd name="connsiteX3" fmla="*/ 0 w 3836725"/>
              <a:gd name="connsiteY3" fmla="*/ 503238 h 503238"/>
              <a:gd name="connsiteX4" fmla="*/ 0 w 3836725"/>
              <a:gd name="connsiteY4" fmla="*/ 0 h 503238"/>
              <a:gd name="connsiteX0" fmla="*/ 0 w 3835316"/>
              <a:gd name="connsiteY0" fmla="*/ 0 h 503238"/>
              <a:gd name="connsiteX1" fmla="*/ 3122985 w 3835316"/>
              <a:gd name="connsiteY1" fmla="*/ 0 h 503238"/>
              <a:gd name="connsiteX2" fmla="*/ 3835160 w 3835316"/>
              <a:gd name="connsiteY2" fmla="*/ 503238 h 503238"/>
              <a:gd name="connsiteX3" fmla="*/ 0 w 3835316"/>
              <a:gd name="connsiteY3" fmla="*/ 503238 h 503238"/>
              <a:gd name="connsiteX4" fmla="*/ 0 w 3835316"/>
              <a:gd name="connsiteY4" fmla="*/ 0 h 503238"/>
              <a:gd name="connsiteX0" fmla="*/ 0 w 3835181"/>
              <a:gd name="connsiteY0" fmla="*/ 0 h 503238"/>
              <a:gd name="connsiteX1" fmla="*/ 3122985 w 3835181"/>
              <a:gd name="connsiteY1" fmla="*/ 0 h 503238"/>
              <a:gd name="connsiteX2" fmla="*/ 3835160 w 3835181"/>
              <a:gd name="connsiteY2" fmla="*/ 503238 h 503238"/>
              <a:gd name="connsiteX3" fmla="*/ 0 w 3835181"/>
              <a:gd name="connsiteY3" fmla="*/ 503238 h 503238"/>
              <a:gd name="connsiteX4" fmla="*/ 0 w 3835181"/>
              <a:gd name="connsiteY4" fmla="*/ 0 h 503238"/>
              <a:gd name="connsiteX0" fmla="*/ 0 w 3835199"/>
              <a:gd name="connsiteY0" fmla="*/ 0 h 503238"/>
              <a:gd name="connsiteX1" fmla="*/ 3222806 w 3835199"/>
              <a:gd name="connsiteY1" fmla="*/ 0 h 503238"/>
              <a:gd name="connsiteX2" fmla="*/ 3835160 w 3835199"/>
              <a:gd name="connsiteY2" fmla="*/ 503238 h 503238"/>
              <a:gd name="connsiteX3" fmla="*/ 0 w 3835199"/>
              <a:gd name="connsiteY3" fmla="*/ 503238 h 503238"/>
              <a:gd name="connsiteX4" fmla="*/ 0 w 3835199"/>
              <a:gd name="connsiteY4" fmla="*/ 0 h 503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35199" h="503238">
                <a:moveTo>
                  <a:pt x="0" y="0"/>
                </a:moveTo>
                <a:lnTo>
                  <a:pt x="3222806" y="0"/>
                </a:lnTo>
                <a:cubicBezTo>
                  <a:pt x="3721550" y="5336"/>
                  <a:pt x="3837684" y="385706"/>
                  <a:pt x="3835160" y="503238"/>
                </a:cubicBezTo>
                <a:lnTo>
                  <a:pt x="0" y="503238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  <a:effectLst>
            <a:outerShdw blurRad="1905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tIns="108000" rIns="360000" bIns="0" anchor="b">
            <a:spAutoFit/>
          </a:bodyPr>
          <a:lstStyle>
            <a:lvl1pPr algn="l">
              <a:defRPr sz="2800" b="1">
                <a:solidFill>
                  <a:srgbClr val="0070C0"/>
                </a:solidFill>
                <a:latin typeface="+mn-lt"/>
                <a:ea typeface="+mn-ea"/>
                <a:cs typeface="Meiryo UI" panose="020B0604030504040204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9" name="スライド番号プレースホルダー 5"/>
          <p:cNvSpPr>
            <a:spLocks noGrp="1"/>
          </p:cNvSpPr>
          <p:nvPr>
            <p:ph type="sldNum" sz="quarter" idx="14"/>
          </p:nvPr>
        </p:nvSpPr>
        <p:spPr>
          <a:xfrm>
            <a:off x="7594600" y="6550025"/>
            <a:ext cx="2311400" cy="295275"/>
          </a:xfrm>
        </p:spPr>
        <p:txBody>
          <a:bodyPr/>
          <a:lstStyle>
            <a:lvl1pPr>
              <a:defRPr sz="11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CC75CB6F-FB98-4479-AC00-2C6B2AB57C1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  <p:pic>
        <p:nvPicPr>
          <p:cNvPr id="10" name="Picture 2" descr="?R???X?L?????e?N?m">
            <a:extLst>
              <a:ext uri="{FF2B5EF4-FFF2-40B4-BE49-F238E27FC236}">
                <a16:creationId xmlns:a16="http://schemas.microsoft.com/office/drawing/2014/main" id="{48BFE4B0-FD39-F30B-119D-BA5C70E714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68" y="6401715"/>
            <a:ext cx="1282045" cy="480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図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526" y="6020122"/>
            <a:ext cx="1717413" cy="3815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07769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/>
          <p:cNvCxnSpPr/>
          <p:nvPr userDrawn="1"/>
        </p:nvCxnSpPr>
        <p:spPr>
          <a:xfrm>
            <a:off x="858838" y="3457575"/>
            <a:ext cx="8113712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正方形/長方形 8"/>
          <p:cNvSpPr>
            <a:spLocks noChangeArrowheads="1"/>
          </p:cNvSpPr>
          <p:nvPr userDrawn="1"/>
        </p:nvSpPr>
        <p:spPr bwMode="auto">
          <a:xfrm>
            <a:off x="6702425" y="6642100"/>
            <a:ext cx="3203575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メイリオ" panose="020B0604030504040204" pitchFamily="50" charset="-128"/>
              </a:defRPr>
            </a:lvl9pPr>
          </a:lstStyle>
          <a:p>
            <a:pPr eaLnBrk="1" hangingPunct="1"/>
            <a:r>
              <a:rPr lang="ja-JP" altLang="en-US" sz="800">
                <a:latin typeface="小塚明朝 Pro H" pitchFamily="18" charset="-128"/>
                <a:ea typeface="小塚明朝 Pro H" pitchFamily="18" charset="-128"/>
                <a:cs typeface="Meiryo UI" panose="020B0604030504040204" pitchFamily="50" charset="-128"/>
              </a:rPr>
              <a:t>Copyright (C)  JOHNAN Corporation All Rights Reserved. </a:t>
            </a:r>
            <a:endParaRPr lang="en-US" altLang="ja-JP" sz="800">
              <a:latin typeface="小塚明朝 Pro H" pitchFamily="18" charset="-128"/>
              <a:ea typeface="小塚明朝 Pro H" pitchFamily="18" charset="-128"/>
              <a:cs typeface="Meiryo UI" panose="020B0604030504040204" pitchFamily="50" charset="-128"/>
            </a:endParaRPr>
          </a:p>
        </p:txBody>
      </p:sp>
      <p:sp>
        <p:nvSpPr>
          <p:cNvPr id="11" name="タイトル 10"/>
          <p:cNvSpPr>
            <a:spLocks noGrp="1"/>
          </p:cNvSpPr>
          <p:nvPr>
            <p:ph type="title"/>
          </p:nvPr>
        </p:nvSpPr>
        <p:spPr>
          <a:xfrm>
            <a:off x="516565" y="2732575"/>
            <a:ext cx="8915400" cy="715889"/>
          </a:xfrm>
        </p:spPr>
        <p:txBody>
          <a:bodyPr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pic>
        <p:nvPicPr>
          <p:cNvPr id="9" name="Picture 2" descr="?R???X?L?????e?N?m">
            <a:extLst>
              <a:ext uri="{FF2B5EF4-FFF2-40B4-BE49-F238E27FC236}">
                <a16:creationId xmlns:a16="http://schemas.microsoft.com/office/drawing/2014/main" id="{FE6C35C1-77C0-0418-77C7-7BE56105A6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6818" y="6054873"/>
            <a:ext cx="1541633" cy="578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図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543736"/>
            <a:ext cx="1857080" cy="4126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24988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 1"/>
          <p:cNvSpPr>
            <a:spLocks noGrp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charset="0"/>
                <a:cs typeface="メイリオ" pitchFamily="50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charset="0"/>
                <a:cs typeface="メイリオ" pitchFamily="50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099300" y="6356350"/>
            <a:ext cx="23114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7FD3F6E2-B9E7-4BF8-83A5-B060A8F8D97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  <p:pic>
        <p:nvPicPr>
          <p:cNvPr id="1031" name="図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75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図 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75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637" r:id="rId1"/>
    <p:sldLayoutId id="2147485643" r:id="rId2"/>
    <p:sldLayoutId id="2147485649" r:id="rId3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メイリオ" pitchFamily="50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Segoe UI" pitchFamily="34" charset="0"/>
          <a:ea typeface="メイリオ" pitchFamily="50" charset="-128"/>
          <a:cs typeface="メイリオ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Segoe UI" pitchFamily="34" charset="0"/>
          <a:ea typeface="メイリオ" pitchFamily="50" charset="-128"/>
          <a:cs typeface="メイリオ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Segoe UI" pitchFamily="34" charset="0"/>
          <a:ea typeface="メイリオ" pitchFamily="50" charset="-128"/>
          <a:cs typeface="メイリオ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Segoe UI" pitchFamily="34" charset="0"/>
          <a:ea typeface="メイリオ" pitchFamily="50" charset="-128"/>
          <a:cs typeface="メイリオ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メイリオ" pitchFamily="50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メイリオ" pitchFamily="50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メイリオ" pitchFamily="50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メイリオ" pitchFamily="50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メイリオ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ohnan.com/comscan/" TargetMode="Externa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F6FB2D-17D9-0FA4-DCA9-5CA2DF956151}"/>
              </a:ext>
            </a:extLst>
          </p:cNvPr>
          <p:cNvSpPr txBox="1"/>
          <p:nvPr/>
        </p:nvSpPr>
        <p:spPr>
          <a:xfrm>
            <a:off x="4912325" y="5172713"/>
            <a:ext cx="4993675" cy="6255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ja-JP" altLang="en-US" dirty="0"/>
              <a:t>コムスキャンテクノ株式会社</a:t>
            </a:r>
            <a:r>
              <a:rPr lang="en-US" altLang="ja-JP" dirty="0"/>
              <a:t>(JOHNAN Group)</a:t>
            </a:r>
            <a:endParaRPr kumimoji="1" lang="en-US" altLang="ja-JP" dirty="0"/>
          </a:p>
          <a:p>
            <a:pPr marL="342900" lvl="0" indent="-34290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400"/>
            </a:pPr>
            <a:r>
              <a:rPr lang="ja-JP" altLang="en-US" dirty="0"/>
              <a:t>　　　</a:t>
            </a:r>
            <a:r>
              <a:rPr lang="en-US" altLang="ja-JP" b="1" u="sng" dirty="0">
                <a:solidFill>
                  <a:srgbClr val="3F3F3F"/>
                </a:solidFill>
                <a:latin typeface="Quattrocento Sans"/>
                <a:ea typeface="Quattrocento Sans"/>
                <a:cs typeface="Quattrocento Sans"/>
                <a:sym typeface="Quattrocento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ja-JP" b="1" u="sng" dirty="0">
                <a:solidFill>
                  <a:srgbClr val="3F3F3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://www.johnan.com/comscan-en/</a:t>
            </a:r>
            <a:endParaRPr lang="en-US" altLang="ja-JP" b="1" dirty="0">
              <a:solidFill>
                <a:srgbClr val="3F3F3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0" y="2055899"/>
            <a:ext cx="9760640" cy="1757947"/>
          </a:xfrm>
        </p:spPr>
        <p:txBody>
          <a:bodyPr/>
          <a:lstStyle/>
          <a:p>
            <a:r>
              <a:rPr kumimoji="1" lang="ja-JP" altLang="en-US" sz="3800" dirty="0"/>
              <a:t>サンプル撮影報告書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05CEF1-D536-7634-715E-DE0BA7E44E97}"/>
              </a:ext>
            </a:extLst>
          </p:cNvPr>
          <p:cNvSpPr txBox="1"/>
          <p:nvPr/>
        </p:nvSpPr>
        <p:spPr>
          <a:xfrm>
            <a:off x="8122183" y="4900745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2026</a:t>
            </a:r>
            <a:r>
              <a:rPr kumimoji="1" lang="ja-JP" altLang="en-US" dirty="0"/>
              <a:t>年</a:t>
            </a:r>
            <a:r>
              <a:rPr kumimoji="1" lang="en-US" altLang="ja-JP" dirty="0"/>
              <a:t>4</a:t>
            </a:r>
            <a:r>
              <a:rPr kumimoji="1" lang="ja-JP" altLang="en-US" dirty="0"/>
              <a:t>月</a:t>
            </a:r>
            <a:r>
              <a:rPr kumimoji="1" lang="en-US" altLang="ja-JP" dirty="0"/>
              <a:t>2</a:t>
            </a:r>
            <a:r>
              <a:rPr kumimoji="1" lang="ja-JP" altLang="en-US" dirty="0"/>
              <a:t>日</a:t>
            </a: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87D9B127-34DC-B034-BD99-63106213CEA4}"/>
              </a:ext>
            </a:extLst>
          </p:cNvPr>
          <p:cNvSpPr txBox="1">
            <a:spLocks/>
          </p:cNvSpPr>
          <p:nvPr/>
        </p:nvSpPr>
        <p:spPr bwMode="auto">
          <a:xfrm>
            <a:off x="278295" y="1553514"/>
            <a:ext cx="3756992" cy="502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 b="1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メイリオ" pitchFamily="50" charset="-128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Segoe UI" pitchFamily="34" charset="0"/>
                <a:ea typeface="メイリオ" pitchFamily="50" charset="-128"/>
                <a:cs typeface="メイリオ" pitchFamily="50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Segoe UI" pitchFamily="34" charset="0"/>
                <a:ea typeface="メイリオ" pitchFamily="50" charset="-128"/>
                <a:cs typeface="メイリオ" pitchFamily="50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Segoe UI" pitchFamily="34" charset="0"/>
                <a:ea typeface="メイリオ" pitchFamily="50" charset="-128"/>
                <a:cs typeface="メイリオ" pitchFamily="50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Segoe UI" pitchFamily="34" charset="0"/>
                <a:ea typeface="メイリオ" pitchFamily="50" charset="-128"/>
                <a:cs typeface="メイリオ" pitchFamily="50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r>
              <a:rPr lang="ja-JP" altLang="en-US" sz="2400" dirty="0"/>
              <a:t>（株）ニッコー様</a:t>
            </a:r>
          </a:p>
        </p:txBody>
      </p:sp>
    </p:spTree>
    <p:extLst>
      <p:ext uri="{BB962C8B-B14F-4D97-AF65-F5344CB8AC3E}">
        <p14:creationId xmlns:p14="http://schemas.microsoft.com/office/powerpoint/2010/main" val="1062680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01A53-3023-4E4A-94EF-1AB30531E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6B44A0-55E9-884F-D8C5-E66CEA938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36569"/>
            <a:ext cx="8810622" cy="539942"/>
          </a:xfrm>
        </p:spPr>
        <p:txBody>
          <a:bodyPr/>
          <a:lstStyle/>
          <a:p>
            <a:r>
              <a:rPr lang="en-US" altLang="ja-JP" dirty="0"/>
              <a:t>1</a:t>
            </a:r>
            <a:r>
              <a:rPr lang="ja-JP" altLang="en-US" dirty="0"/>
              <a:t>．撮影目的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555410B-B59E-2045-D751-A438664C14E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7594600" y="6347893"/>
            <a:ext cx="2311400" cy="295275"/>
          </a:xfrm>
        </p:spPr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1</a:t>
            </a:fld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5276C9-E0D3-194C-6533-4B3E9F669F6C}"/>
              </a:ext>
            </a:extLst>
          </p:cNvPr>
          <p:cNvSpPr txBox="1"/>
          <p:nvPr/>
        </p:nvSpPr>
        <p:spPr>
          <a:xfrm>
            <a:off x="0" y="757372"/>
            <a:ext cx="98111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rgbClr val="1A66FF"/>
                </a:solidFill>
              </a:rPr>
              <a:t>　撮影目的は、ホーンの</a:t>
            </a:r>
            <a:r>
              <a:rPr lang="en-US" altLang="ja-JP" sz="2000" dirty="0">
                <a:solidFill>
                  <a:srgbClr val="1A66FF"/>
                </a:solidFill>
              </a:rPr>
              <a:t>SampleA</a:t>
            </a:r>
            <a:r>
              <a:rPr lang="ja-JP" altLang="en-US" sz="2000" dirty="0">
                <a:solidFill>
                  <a:srgbClr val="1A66FF"/>
                </a:solidFill>
              </a:rPr>
              <a:t>～</a:t>
            </a:r>
            <a:r>
              <a:rPr lang="en-US" altLang="ja-JP" sz="2000" dirty="0">
                <a:solidFill>
                  <a:srgbClr val="1A66FF"/>
                </a:solidFill>
              </a:rPr>
              <a:t>SampleC</a:t>
            </a:r>
            <a:r>
              <a:rPr lang="ja-JP" altLang="en-US" sz="2000" dirty="0">
                <a:solidFill>
                  <a:srgbClr val="1A66FF"/>
                </a:solidFill>
              </a:rPr>
              <a:t>をＣＴ撮影を行って、</a:t>
            </a:r>
            <a:endParaRPr lang="en-US" altLang="ja-JP" sz="2000" dirty="0">
              <a:solidFill>
                <a:srgbClr val="1A66FF"/>
              </a:solidFill>
            </a:endParaRPr>
          </a:p>
          <a:p>
            <a:r>
              <a:rPr lang="ja-JP" altLang="en-US" sz="2000" dirty="0">
                <a:solidFill>
                  <a:srgbClr val="1A66FF"/>
                </a:solidFill>
              </a:rPr>
              <a:t>内部コイルと鉄心の位置関係等を計測する。</a:t>
            </a:r>
            <a:endParaRPr lang="en-US" altLang="ja-JP" sz="2000" dirty="0">
              <a:solidFill>
                <a:srgbClr val="1A66FF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305DF22-8D40-9728-7F7D-B575F4C0F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054" y="2364017"/>
            <a:ext cx="5901439" cy="3932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942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DC072-4DFE-5414-B886-D213BB238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B1A608-C242-7ED7-C74D-6BD89F9A5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36569"/>
            <a:ext cx="8810622" cy="539942"/>
          </a:xfrm>
        </p:spPr>
        <p:txBody>
          <a:bodyPr/>
          <a:lstStyle/>
          <a:p>
            <a:r>
              <a:rPr lang="en-US" altLang="ja-JP" dirty="0"/>
              <a:t>2</a:t>
            </a:r>
            <a:r>
              <a:rPr lang="ja-JP" altLang="en-US" dirty="0"/>
              <a:t>．撮影概要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E1F423D-BB3B-2F3C-3FD3-F5776FFF0DF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2</a:t>
            </a:fld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3FC4451-71B5-C0B2-9A81-FA2BB4133438}"/>
              </a:ext>
            </a:extLst>
          </p:cNvPr>
          <p:cNvSpPr txBox="1"/>
          <p:nvPr/>
        </p:nvSpPr>
        <p:spPr>
          <a:xfrm>
            <a:off x="47438" y="812761"/>
            <a:ext cx="98111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1A66FF"/>
                </a:solidFill>
              </a:rPr>
              <a:t>サンプルの撮影風景を以下に掲載します。</a:t>
            </a:r>
            <a:endParaRPr lang="en-US" altLang="ja-JP" dirty="0">
              <a:solidFill>
                <a:srgbClr val="1A66FF"/>
              </a:solidFill>
            </a:endParaRPr>
          </a:p>
          <a:p>
            <a:endParaRPr lang="en-US" altLang="ja-JP" dirty="0">
              <a:solidFill>
                <a:srgbClr val="1A66FF"/>
              </a:solidFill>
            </a:endParaRPr>
          </a:p>
          <a:p>
            <a:r>
              <a:rPr lang="ja-JP" altLang="en-US" dirty="0">
                <a:solidFill>
                  <a:srgbClr val="1A66FF"/>
                </a:solidFill>
              </a:rPr>
              <a:t>・最大管電圧 </a:t>
            </a:r>
            <a:r>
              <a:rPr lang="en-US" altLang="ja-JP" dirty="0">
                <a:solidFill>
                  <a:srgbClr val="1A66FF"/>
                </a:solidFill>
              </a:rPr>
              <a:t>= 150kV</a:t>
            </a:r>
            <a:r>
              <a:rPr lang="ja-JP" altLang="en-US" dirty="0">
                <a:solidFill>
                  <a:srgbClr val="1A66FF"/>
                </a:solidFill>
              </a:rPr>
              <a:t>の</a:t>
            </a:r>
            <a:r>
              <a:rPr lang="en-US" altLang="ja-JP" dirty="0">
                <a:solidFill>
                  <a:srgbClr val="1A66FF"/>
                </a:solidFill>
              </a:rPr>
              <a:t>CT</a:t>
            </a:r>
            <a:r>
              <a:rPr lang="ja-JP" altLang="en-US" dirty="0">
                <a:solidFill>
                  <a:srgbClr val="1A66FF"/>
                </a:solidFill>
              </a:rPr>
              <a:t>装置を使用して撮影。</a:t>
            </a:r>
            <a:endParaRPr lang="en-US" altLang="ja-JP" dirty="0">
              <a:solidFill>
                <a:srgbClr val="1A66FF"/>
              </a:solidFill>
            </a:endParaRPr>
          </a:p>
          <a:p>
            <a:r>
              <a:rPr lang="ja-JP" altLang="en-US" dirty="0">
                <a:solidFill>
                  <a:srgbClr val="1A66FF"/>
                </a:solidFill>
              </a:rPr>
              <a:t>・銅フィルターを用いてノイズを低減。</a:t>
            </a:r>
            <a:endParaRPr lang="en-US" altLang="ja-JP" dirty="0">
              <a:solidFill>
                <a:srgbClr val="1A66FF"/>
              </a:solidFill>
            </a:endParaRPr>
          </a:p>
          <a:p>
            <a:r>
              <a:rPr lang="ja-JP" altLang="en-US" dirty="0">
                <a:solidFill>
                  <a:srgbClr val="1A66FF"/>
                </a:solidFill>
              </a:rPr>
              <a:t>・積算平均を増やすことで</a:t>
            </a:r>
            <a:r>
              <a:rPr lang="en-US" altLang="ja-JP" dirty="0">
                <a:solidFill>
                  <a:srgbClr val="1A66FF"/>
                </a:solidFill>
              </a:rPr>
              <a:t>S/N</a:t>
            </a:r>
            <a:r>
              <a:rPr lang="ja-JP" altLang="en-US" dirty="0">
                <a:solidFill>
                  <a:srgbClr val="1A66FF"/>
                </a:solidFill>
              </a:rPr>
              <a:t>をアップし、ノイズを低減。</a:t>
            </a:r>
            <a:endParaRPr lang="en-US" altLang="ja-JP" dirty="0">
              <a:solidFill>
                <a:srgbClr val="1A66FF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5D68705-A923-6E17-9E02-0F2D9DFE8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965" y="2426339"/>
            <a:ext cx="5292173" cy="403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286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8F3E-84C4-B299-7CE1-EE5945126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0768B2-9356-3ABC-BA9C-DB7A190D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36569"/>
            <a:ext cx="8810622" cy="539942"/>
          </a:xfrm>
        </p:spPr>
        <p:txBody>
          <a:bodyPr/>
          <a:lstStyle/>
          <a:p>
            <a:r>
              <a:rPr lang="en-US" altLang="ja-JP" dirty="0"/>
              <a:t>3</a:t>
            </a:r>
            <a:r>
              <a:rPr lang="ja-JP" altLang="en-US" dirty="0"/>
              <a:t>．撮影条件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BA9ADC7-9DD2-A5B2-5D94-C88D5BBDF90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3</a:t>
            </a:fld>
            <a:endParaRPr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3108B2B-171E-33E4-D21F-A44D243A791E}"/>
              </a:ext>
            </a:extLst>
          </p:cNvPr>
          <p:cNvSpPr txBox="1"/>
          <p:nvPr/>
        </p:nvSpPr>
        <p:spPr>
          <a:xfrm>
            <a:off x="42402" y="716850"/>
            <a:ext cx="9813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以下に撮影条件を記載します。</a:t>
            </a:r>
            <a:endParaRPr lang="en-US" altLang="ja-JP" sz="2000" dirty="0">
              <a:solidFill>
                <a:srgbClr val="0070C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B9B5F3D-F583-9C2E-8923-BAB24041A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2" y="1417146"/>
            <a:ext cx="9718623" cy="14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204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41AAA-DA41-38E8-90B3-63BAB4272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51FBCC-BDD5-7235-9EB9-CF901B9B3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36569"/>
            <a:ext cx="8810622" cy="539942"/>
          </a:xfrm>
        </p:spPr>
        <p:txBody>
          <a:bodyPr/>
          <a:lstStyle/>
          <a:p>
            <a:r>
              <a:rPr lang="en-US" altLang="ja-JP" dirty="0"/>
              <a:t>4</a:t>
            </a:r>
            <a:r>
              <a:rPr lang="ja-JP" altLang="en-US" dirty="0"/>
              <a:t>．解析プロセス ー 全プロセスの概要説明　　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0193F4F-9060-E86B-0C38-AD5D1977376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4</a:t>
            </a:fld>
            <a:endParaRPr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188A994-E76F-B8CE-F532-37FCA9EDB1FA}"/>
              </a:ext>
            </a:extLst>
          </p:cNvPr>
          <p:cNvSpPr txBox="1"/>
          <p:nvPr/>
        </p:nvSpPr>
        <p:spPr>
          <a:xfrm>
            <a:off x="46383" y="786301"/>
            <a:ext cx="9813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以下に解析プロセスの流れと各プロセス概要説明を記載します。</a:t>
            </a:r>
            <a:endParaRPr lang="en-US" altLang="ja-JP" sz="2000" dirty="0">
              <a:solidFill>
                <a:srgbClr val="0070C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DA5CFD-6717-6E43-BF28-CE620CB4A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3" y="1400649"/>
            <a:ext cx="2288088" cy="313002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587A59F-1D32-CCF4-911A-B080F5C01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7601" y="1787816"/>
            <a:ext cx="7474314" cy="2080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39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BC91A-95F2-61D7-78A3-5D92E454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E3AC1D-C887-3541-5630-BE25466BF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12716"/>
            <a:ext cx="8810622" cy="539942"/>
          </a:xfrm>
        </p:spPr>
        <p:txBody>
          <a:bodyPr/>
          <a:lstStyle/>
          <a:p>
            <a:r>
              <a:rPr kumimoji="1" lang="en-US" altLang="ja-JP" dirty="0"/>
              <a:t>5</a:t>
            </a:r>
            <a:r>
              <a:rPr kumimoji="1" lang="ja-JP" altLang="en-US" dirty="0"/>
              <a:t>．結果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A66B570-69DA-F5A7-20EE-AE1B4B4791D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5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267EBDE-520F-5C66-FF2A-AE53ABB86186}"/>
              </a:ext>
            </a:extLst>
          </p:cNvPr>
          <p:cNvSpPr txBox="1"/>
          <p:nvPr/>
        </p:nvSpPr>
        <p:spPr>
          <a:xfrm>
            <a:off x="0" y="1477942"/>
            <a:ext cx="100134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　・内部コイルや鉄心などの部品を明確に把握できるよう</a:t>
            </a:r>
            <a:r>
              <a:rPr lang="en-US" altLang="ja-JP" sz="2000" dirty="0">
                <a:solidFill>
                  <a:srgbClr val="0070C0"/>
                </a:solidFill>
              </a:rPr>
              <a:t>CT</a:t>
            </a:r>
            <a:r>
              <a:rPr lang="ja-JP" altLang="en-US" sz="2000" dirty="0">
                <a:solidFill>
                  <a:srgbClr val="0070C0"/>
                </a:solidFill>
              </a:rPr>
              <a:t>撮影を実施できました。</a:t>
            </a:r>
            <a:endParaRPr lang="en-US" altLang="ja-JP" sz="2000" dirty="0">
              <a:solidFill>
                <a:srgbClr val="0070C0"/>
              </a:solidFill>
            </a:endParaRPr>
          </a:p>
          <a:p>
            <a:r>
              <a:rPr lang="ja-JP" altLang="en-US" sz="2000" dirty="0">
                <a:solidFill>
                  <a:srgbClr val="0070C0"/>
                </a:solidFill>
              </a:rPr>
              <a:t>　・鉄心の隙間計測、電磁コイル等の部品配置を確認することは可能である。</a:t>
            </a:r>
            <a:endParaRPr lang="en-US" altLang="ja-JP" sz="2000" dirty="0">
              <a:solidFill>
                <a:srgbClr val="0070C0"/>
              </a:solidFill>
            </a:endParaRPr>
          </a:p>
          <a:p>
            <a:r>
              <a:rPr lang="ja-JP" altLang="en-US" sz="2000" dirty="0">
                <a:solidFill>
                  <a:srgbClr val="0070C0"/>
                </a:solidFill>
              </a:rPr>
              <a:t>　・</a:t>
            </a:r>
            <a:r>
              <a:rPr lang="en-US" altLang="ja-JP" sz="2000" dirty="0">
                <a:solidFill>
                  <a:srgbClr val="0070C0"/>
                </a:solidFill>
              </a:rPr>
              <a:t>SampleC</a:t>
            </a:r>
            <a:r>
              <a:rPr lang="ja-JP" altLang="en-US" sz="2000" dirty="0">
                <a:solidFill>
                  <a:srgbClr val="0070C0"/>
                </a:solidFill>
              </a:rPr>
              <a:t>においては、</a:t>
            </a:r>
            <a:r>
              <a:rPr lang="ja-JP" altLang="en-US" sz="2000" u="sng" dirty="0">
                <a:solidFill>
                  <a:srgbClr val="0070C0"/>
                </a:solidFill>
              </a:rPr>
              <a:t>電磁コイルが実装</a:t>
            </a:r>
            <a:r>
              <a:rPr lang="ja-JP" altLang="en-US" sz="2000" dirty="0">
                <a:solidFill>
                  <a:srgbClr val="0070C0"/>
                </a:solidFill>
              </a:rPr>
              <a:t>されていないことを確認しています。</a:t>
            </a:r>
            <a:endParaRPr lang="en-US" altLang="ja-JP" sz="2000" dirty="0">
              <a:solidFill>
                <a:srgbClr val="0070C0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1153DB7-1673-7059-4346-B5792B1B0DC1}"/>
              </a:ext>
            </a:extLst>
          </p:cNvPr>
          <p:cNvSpPr txBox="1"/>
          <p:nvPr/>
        </p:nvSpPr>
        <p:spPr>
          <a:xfrm>
            <a:off x="86691" y="926051"/>
            <a:ext cx="9732613" cy="40011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46000">
                <a:schemeClr val="accent1">
                  <a:lumMod val="95000"/>
                  <a:lumOff val="5000"/>
                </a:schemeClr>
              </a:gs>
              <a:gs pos="100000">
                <a:schemeClr val="accent1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</p:spPr>
        <p:txBody>
          <a:bodyPr wrap="square" rtlCol="0">
            <a:spAutoFit/>
          </a:bodyPr>
          <a:lstStyle/>
          <a:p>
            <a:r>
              <a:rPr lang="ja-JP" altLang="en-US" sz="2000" b="1" dirty="0">
                <a:solidFill>
                  <a:schemeClr val="bg1"/>
                </a:solidFill>
              </a:rPr>
              <a:t>撮影結果</a:t>
            </a:r>
            <a:endParaRPr kumimoji="1" lang="ja-JP" altLang="en-US" sz="2000" b="1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6A3E549-7865-DCFE-FC80-1F07775E5BCE}"/>
              </a:ext>
            </a:extLst>
          </p:cNvPr>
          <p:cNvSpPr txBox="1"/>
          <p:nvPr/>
        </p:nvSpPr>
        <p:spPr>
          <a:xfrm>
            <a:off x="94876" y="2556477"/>
            <a:ext cx="9732613" cy="40011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46000">
                <a:schemeClr val="accent1">
                  <a:lumMod val="95000"/>
                  <a:lumOff val="5000"/>
                </a:schemeClr>
              </a:gs>
              <a:gs pos="100000">
                <a:schemeClr val="accent1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</p:spPr>
        <p:txBody>
          <a:bodyPr wrap="square" rtlCol="0">
            <a:spAutoFit/>
          </a:bodyPr>
          <a:lstStyle/>
          <a:p>
            <a:r>
              <a:rPr lang="ja-JP" altLang="en-US" sz="2000" b="1" dirty="0">
                <a:solidFill>
                  <a:schemeClr val="bg1"/>
                </a:solidFill>
              </a:rPr>
              <a:t>内部の計測</a:t>
            </a:r>
            <a:endParaRPr kumimoji="1" lang="ja-JP" altLang="en-US" sz="2000" b="1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E9D164-AC6E-BE6A-4A6D-28010207ABDC}"/>
              </a:ext>
            </a:extLst>
          </p:cNvPr>
          <p:cNvSpPr txBox="1"/>
          <p:nvPr/>
        </p:nvSpPr>
        <p:spPr>
          <a:xfrm>
            <a:off x="86691" y="5171029"/>
            <a:ext cx="9732613" cy="40011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46000">
                <a:schemeClr val="accent1">
                  <a:lumMod val="95000"/>
                  <a:lumOff val="5000"/>
                </a:schemeClr>
              </a:gs>
              <a:gs pos="100000">
                <a:schemeClr val="accent1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</p:spPr>
        <p:txBody>
          <a:bodyPr wrap="square" rtlCol="0">
            <a:spAutoFit/>
          </a:bodyPr>
          <a:lstStyle/>
          <a:p>
            <a:r>
              <a:rPr lang="ja-JP" altLang="en-US" sz="2000" b="1" dirty="0">
                <a:solidFill>
                  <a:schemeClr val="bg1"/>
                </a:solidFill>
              </a:rPr>
              <a:t>想定される</a:t>
            </a:r>
            <a:r>
              <a:rPr lang="en-US" altLang="ja-JP" sz="2000" b="1" dirty="0">
                <a:solidFill>
                  <a:schemeClr val="bg1"/>
                </a:solidFill>
              </a:rPr>
              <a:t>X</a:t>
            </a:r>
            <a:r>
              <a:rPr lang="ja-JP" altLang="en-US" sz="2000" b="1" dirty="0">
                <a:solidFill>
                  <a:schemeClr val="bg1"/>
                </a:solidFill>
              </a:rPr>
              <a:t>線管のスペック（透過力）</a:t>
            </a:r>
            <a:endParaRPr kumimoji="1" lang="ja-JP" altLang="en-US" sz="2000" b="1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1358A6E-4045-B117-3034-390CDEA35464}"/>
              </a:ext>
            </a:extLst>
          </p:cNvPr>
          <p:cNvSpPr txBox="1"/>
          <p:nvPr/>
        </p:nvSpPr>
        <p:spPr>
          <a:xfrm>
            <a:off x="108131" y="5596363"/>
            <a:ext cx="97418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・Ｘ線管：最大管電圧 </a:t>
            </a:r>
            <a:r>
              <a:rPr lang="en-US" altLang="ja-JP" sz="2000" dirty="0">
                <a:solidFill>
                  <a:srgbClr val="0070C0"/>
                </a:solidFill>
              </a:rPr>
              <a:t>= 150kV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C91595C-3592-9147-542F-435E8B1AA2F3}"/>
              </a:ext>
            </a:extLst>
          </p:cNvPr>
          <p:cNvSpPr txBox="1"/>
          <p:nvPr/>
        </p:nvSpPr>
        <p:spPr>
          <a:xfrm>
            <a:off x="26054" y="2954879"/>
            <a:ext cx="9906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　・以下のポイントを計測しました。結果を下記表に記載します。</a:t>
            </a:r>
            <a:endParaRPr lang="en-US" altLang="ja-JP" sz="2000" dirty="0">
              <a:solidFill>
                <a:srgbClr val="0070C0"/>
              </a:solidFill>
            </a:endParaRPr>
          </a:p>
          <a:p>
            <a:r>
              <a:rPr lang="ja-JP" altLang="en-US" sz="2000" dirty="0">
                <a:solidFill>
                  <a:srgbClr val="0070C0"/>
                </a:solidFill>
              </a:rPr>
              <a:t>　　　　　　　　　　　　　　　　　　　　　　　　</a:t>
            </a:r>
            <a:r>
              <a:rPr lang="en-US" altLang="ja-JP" sz="2000" dirty="0">
                <a:solidFill>
                  <a:srgbClr val="0070C0"/>
                </a:solidFill>
              </a:rPr>
              <a:t>※</a:t>
            </a:r>
            <a:r>
              <a:rPr lang="ja-JP" altLang="en-US" sz="2000" dirty="0">
                <a:solidFill>
                  <a:srgbClr val="0070C0"/>
                </a:solidFill>
              </a:rPr>
              <a:t>次ページに撮影画像を掲載。</a:t>
            </a:r>
            <a:endParaRPr lang="en-US" altLang="ja-JP" sz="2000" dirty="0">
              <a:solidFill>
                <a:srgbClr val="0070C0"/>
              </a:solidFill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D2E31A7-0EF7-6D02-A001-3E39A8AFE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6" y="3430035"/>
            <a:ext cx="9545534" cy="1546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600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6FFB4-3DA4-E7F9-F450-293E634E5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906C6B-26F1-4BAA-DA39-B77E8A434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12716"/>
            <a:ext cx="8810622" cy="539942"/>
          </a:xfrm>
        </p:spPr>
        <p:txBody>
          <a:bodyPr/>
          <a:lstStyle/>
          <a:p>
            <a:r>
              <a:rPr lang="en-US" altLang="ja-JP" dirty="0"/>
              <a:t>6</a:t>
            </a:r>
            <a:r>
              <a:rPr kumimoji="1" lang="ja-JP" altLang="en-US" dirty="0"/>
              <a:t>．</a:t>
            </a:r>
            <a:r>
              <a:rPr lang="ja-JP" altLang="en-US" dirty="0"/>
              <a:t>画像ショット</a:t>
            </a:r>
            <a:r>
              <a:rPr kumimoji="1" lang="ja-JP" altLang="en-US" dirty="0"/>
              <a:t>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71E83AD-568D-2F99-35A6-89ABB3CDD45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6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BAB094B-E0D7-36CB-CA11-DE7617C13FAE}"/>
              </a:ext>
            </a:extLst>
          </p:cNvPr>
          <p:cNvSpPr txBox="1"/>
          <p:nvPr/>
        </p:nvSpPr>
        <p:spPr>
          <a:xfrm>
            <a:off x="110836" y="2047717"/>
            <a:ext cx="9707419" cy="1754326"/>
          </a:xfrm>
          <a:prstGeom prst="rect">
            <a:avLst/>
          </a:prstGeom>
          <a:noFill/>
          <a:ln w="57150">
            <a:solidFill>
              <a:srgbClr val="1A66FF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2000" dirty="0">
                <a:solidFill>
                  <a:srgbClr val="0070C0"/>
                </a:solidFill>
              </a:rPr>
              <a:t>　</a:t>
            </a:r>
            <a:r>
              <a:rPr lang="ja-JP" altLang="en-US" sz="5400" dirty="0">
                <a:solidFill>
                  <a:srgbClr val="0070C0"/>
                </a:solidFill>
              </a:rPr>
              <a:t>本ページ以降、サンプル毎の画像ショットを掲載します。</a:t>
            </a:r>
            <a:endParaRPr lang="en-US" altLang="ja-JP" sz="54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735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3FBE2-CE7F-A2FF-D4DF-3EC21FF84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26B839-3F80-24E0-586D-FFE20C4A0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174271"/>
            <a:ext cx="9905997" cy="478387"/>
          </a:xfrm>
        </p:spPr>
        <p:txBody>
          <a:bodyPr/>
          <a:lstStyle/>
          <a:p>
            <a:r>
              <a:rPr kumimoji="1" lang="en-US" altLang="ja-JP" sz="2400" dirty="0"/>
              <a:t>6</a:t>
            </a:r>
            <a:r>
              <a:rPr kumimoji="1" lang="ja-JP" altLang="en-US" sz="2400" dirty="0"/>
              <a:t>．画像ショット：</a:t>
            </a:r>
            <a:r>
              <a:rPr kumimoji="1" lang="en-US" altLang="ja-JP" sz="2400" dirty="0"/>
              <a:t>SampleA</a:t>
            </a:r>
            <a:r>
              <a:rPr kumimoji="1" lang="ja-JP" altLang="en-US" sz="2400" dirty="0"/>
              <a:t>（計測表示なし）</a:t>
            </a:r>
            <a:r>
              <a:rPr lang="en-US" altLang="ja-JP" sz="2400" dirty="0"/>
              <a:t>     		  1/7</a:t>
            </a:r>
            <a:r>
              <a:rPr kumimoji="1" lang="ja-JP" altLang="en-US" sz="2400" dirty="0"/>
              <a:t>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1189BA1-03D0-C182-AD51-BE5471491F7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7</a:t>
            </a:fld>
            <a:endParaRPr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896AEED-43C3-E701-72EB-79C3CADBD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356" y="804767"/>
            <a:ext cx="7680488" cy="559314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DB47408-2738-216E-4A49-912231F4BF41}"/>
              </a:ext>
            </a:extLst>
          </p:cNvPr>
          <p:cNvSpPr txBox="1"/>
          <p:nvPr/>
        </p:nvSpPr>
        <p:spPr>
          <a:xfrm>
            <a:off x="1411356" y="804767"/>
            <a:ext cx="1133061" cy="369332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２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4662E8-0CF3-7DAD-5EE9-5C89E936909B}"/>
              </a:ext>
            </a:extLst>
          </p:cNvPr>
          <p:cNvSpPr txBox="1"/>
          <p:nvPr/>
        </p:nvSpPr>
        <p:spPr>
          <a:xfrm>
            <a:off x="5877556" y="804767"/>
            <a:ext cx="1133061" cy="369332"/>
          </a:xfrm>
          <a:prstGeom prst="rect">
            <a:avLst/>
          </a:prstGeom>
          <a:solidFill>
            <a:srgbClr val="FFFF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３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753994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7C9B-5558-AF66-123E-CE474FBB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E6A4D4-2418-C8AD-27CE-A3B7278CC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174271"/>
            <a:ext cx="9905997" cy="478387"/>
          </a:xfrm>
        </p:spPr>
        <p:txBody>
          <a:bodyPr/>
          <a:lstStyle/>
          <a:p>
            <a:r>
              <a:rPr kumimoji="1" lang="en-US" altLang="ja-JP" sz="2400" dirty="0"/>
              <a:t>6</a:t>
            </a:r>
            <a:r>
              <a:rPr kumimoji="1" lang="ja-JP" altLang="en-US" sz="2400" dirty="0"/>
              <a:t>．画像ショット：</a:t>
            </a:r>
            <a:r>
              <a:rPr kumimoji="1" lang="en-US" altLang="ja-JP" sz="2400" dirty="0"/>
              <a:t>SampleA</a:t>
            </a:r>
            <a:r>
              <a:rPr kumimoji="1" lang="ja-JP" altLang="en-US" sz="2400" dirty="0"/>
              <a:t>（計測表示あり）</a:t>
            </a:r>
            <a:r>
              <a:rPr lang="en-US" altLang="ja-JP" sz="2400" dirty="0"/>
              <a:t>     		  2/7</a:t>
            </a:r>
            <a:r>
              <a:rPr kumimoji="1" lang="ja-JP" altLang="en-US" sz="2400" dirty="0"/>
              <a:t>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FC44377-CE4C-1378-0DA9-335BA689DEF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8</a:t>
            </a:fld>
            <a:endParaRPr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0721AF0-8D94-3C83-81AB-5A77A25D1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12" y="829654"/>
            <a:ext cx="7855190" cy="572037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43D02D0-0AC1-DB59-D470-BE42B90BC911}"/>
              </a:ext>
            </a:extLst>
          </p:cNvPr>
          <p:cNvSpPr txBox="1"/>
          <p:nvPr/>
        </p:nvSpPr>
        <p:spPr>
          <a:xfrm>
            <a:off x="1635512" y="829654"/>
            <a:ext cx="1133061" cy="369332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２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1CE9EA1-131B-6ADF-D773-4D0E8EC0CD42}"/>
              </a:ext>
            </a:extLst>
          </p:cNvPr>
          <p:cNvSpPr txBox="1"/>
          <p:nvPr/>
        </p:nvSpPr>
        <p:spPr>
          <a:xfrm>
            <a:off x="6210770" y="829654"/>
            <a:ext cx="1133061" cy="369332"/>
          </a:xfrm>
          <a:prstGeom prst="rect">
            <a:avLst/>
          </a:prstGeom>
          <a:solidFill>
            <a:srgbClr val="FFFF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３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283247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41F09-2A0A-0A07-F65D-A67D78AE1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5AFA9F-AFCF-B814-748E-5924E3E51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174271"/>
            <a:ext cx="9905997" cy="478387"/>
          </a:xfrm>
        </p:spPr>
        <p:txBody>
          <a:bodyPr/>
          <a:lstStyle/>
          <a:p>
            <a:r>
              <a:rPr kumimoji="1" lang="en-US" altLang="ja-JP" sz="2400" dirty="0"/>
              <a:t>6</a:t>
            </a:r>
            <a:r>
              <a:rPr kumimoji="1" lang="ja-JP" altLang="en-US" sz="2400" dirty="0"/>
              <a:t>．画像ショット：</a:t>
            </a:r>
            <a:r>
              <a:rPr kumimoji="1" lang="en-US" altLang="ja-JP" sz="2400" dirty="0" err="1"/>
              <a:t>SampleB</a:t>
            </a:r>
            <a:r>
              <a:rPr kumimoji="1" lang="ja-JP" altLang="en-US" sz="2400" dirty="0"/>
              <a:t>（計測表示なし）</a:t>
            </a:r>
            <a:r>
              <a:rPr lang="en-US" altLang="ja-JP" sz="2400" dirty="0"/>
              <a:t>     		  3/7</a:t>
            </a:r>
            <a:r>
              <a:rPr kumimoji="1" lang="ja-JP" altLang="en-US" sz="2400" dirty="0"/>
              <a:t>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E7C2426-A590-46C8-51E1-435CE252379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9</a:t>
            </a:fld>
            <a:endParaRPr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3FB6BAE-985D-03FB-3019-D7B245AAD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946" y="749117"/>
            <a:ext cx="7959268" cy="579616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0DFA7B1-83C3-AE3F-9140-F043348B95CA}"/>
              </a:ext>
            </a:extLst>
          </p:cNvPr>
          <p:cNvSpPr txBox="1"/>
          <p:nvPr/>
        </p:nvSpPr>
        <p:spPr>
          <a:xfrm>
            <a:off x="1642946" y="744373"/>
            <a:ext cx="1133061" cy="369332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２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0F12917-C0B5-F49C-D166-1D397A78BF1B}"/>
              </a:ext>
            </a:extLst>
          </p:cNvPr>
          <p:cNvSpPr txBox="1"/>
          <p:nvPr/>
        </p:nvSpPr>
        <p:spPr>
          <a:xfrm>
            <a:off x="6288262" y="744373"/>
            <a:ext cx="1133061" cy="369332"/>
          </a:xfrm>
          <a:prstGeom prst="rect">
            <a:avLst/>
          </a:prstGeom>
          <a:solidFill>
            <a:srgbClr val="FFFF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３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028318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6091F-5E64-153A-88F9-A5657FAD4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957370-30BF-1F19-EE2B-8DE70BD05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174271"/>
            <a:ext cx="9905997" cy="478387"/>
          </a:xfrm>
        </p:spPr>
        <p:txBody>
          <a:bodyPr/>
          <a:lstStyle/>
          <a:p>
            <a:r>
              <a:rPr kumimoji="1" lang="en-US" altLang="ja-JP" sz="2400" dirty="0"/>
              <a:t>6</a:t>
            </a:r>
            <a:r>
              <a:rPr kumimoji="1" lang="ja-JP" altLang="en-US" sz="2400" dirty="0"/>
              <a:t>．画像ショット：</a:t>
            </a:r>
            <a:r>
              <a:rPr kumimoji="1" lang="en-US" altLang="ja-JP" sz="2400" dirty="0" err="1"/>
              <a:t>Sample</a:t>
            </a:r>
            <a:r>
              <a:rPr lang="en-US" altLang="ja-JP" sz="2400" dirty="0" err="1"/>
              <a:t>B</a:t>
            </a:r>
            <a:r>
              <a:rPr kumimoji="1" lang="ja-JP" altLang="en-US" sz="2400" dirty="0"/>
              <a:t>（計測表示あり）</a:t>
            </a:r>
            <a:r>
              <a:rPr lang="en-US" altLang="ja-JP" sz="2400" dirty="0"/>
              <a:t>     		  4/7</a:t>
            </a:r>
            <a:r>
              <a:rPr kumimoji="1" lang="ja-JP" altLang="en-US" sz="2400" dirty="0"/>
              <a:t>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A640958-7F8F-0306-98B2-7B978A12A87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10</a:t>
            </a:fld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90E54D9-839A-A71F-9FC4-82A794ED8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722" y="715965"/>
            <a:ext cx="8011307" cy="583406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FB43763-9AF3-D973-A3CF-CB9294D8351C}"/>
              </a:ext>
            </a:extLst>
          </p:cNvPr>
          <p:cNvSpPr txBox="1"/>
          <p:nvPr/>
        </p:nvSpPr>
        <p:spPr>
          <a:xfrm>
            <a:off x="1724722" y="715965"/>
            <a:ext cx="1133061" cy="369332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２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E5F8BF9-1C75-4428-384F-5150FE9373F2}"/>
              </a:ext>
            </a:extLst>
          </p:cNvPr>
          <p:cNvSpPr txBox="1"/>
          <p:nvPr/>
        </p:nvSpPr>
        <p:spPr>
          <a:xfrm>
            <a:off x="6389000" y="715965"/>
            <a:ext cx="1133061" cy="369332"/>
          </a:xfrm>
          <a:prstGeom prst="rect">
            <a:avLst/>
          </a:prstGeom>
          <a:solidFill>
            <a:srgbClr val="FFFF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３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025922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E7617-1262-51D8-B7E3-2B8E92768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B9666C-2558-37E7-EB94-7712BE03D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174271"/>
            <a:ext cx="9905997" cy="478387"/>
          </a:xfrm>
        </p:spPr>
        <p:txBody>
          <a:bodyPr/>
          <a:lstStyle/>
          <a:p>
            <a:r>
              <a:rPr kumimoji="1" lang="en-US" altLang="ja-JP" sz="2400" dirty="0"/>
              <a:t>6</a:t>
            </a:r>
            <a:r>
              <a:rPr kumimoji="1" lang="ja-JP" altLang="en-US" sz="2400" dirty="0"/>
              <a:t>．画像ショット：</a:t>
            </a:r>
            <a:r>
              <a:rPr kumimoji="1" lang="en-US" altLang="ja-JP" sz="2400" dirty="0"/>
              <a:t>Sample</a:t>
            </a:r>
            <a:r>
              <a:rPr lang="en-US" altLang="ja-JP" sz="2400" dirty="0"/>
              <a:t>C</a:t>
            </a:r>
            <a:r>
              <a:rPr kumimoji="1" lang="ja-JP" altLang="en-US" sz="2400" dirty="0"/>
              <a:t>（計測表示なし）</a:t>
            </a:r>
            <a:r>
              <a:rPr lang="en-US" altLang="ja-JP" sz="2400" dirty="0"/>
              <a:t>     		  5/7</a:t>
            </a:r>
            <a:r>
              <a:rPr kumimoji="1" lang="ja-JP" altLang="en-US" sz="2400" dirty="0"/>
              <a:t>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17762C7-E34B-3DB6-88EB-5117A0257A5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11</a:t>
            </a:fld>
            <a:endParaRPr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1D8C56E-EFD0-974D-8E98-6315FFC01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155" y="764687"/>
            <a:ext cx="7944401" cy="578533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D0E17B0-DD5E-7DCB-8E56-8CF3186AF7D1}"/>
              </a:ext>
            </a:extLst>
          </p:cNvPr>
          <p:cNvSpPr txBox="1"/>
          <p:nvPr/>
        </p:nvSpPr>
        <p:spPr>
          <a:xfrm>
            <a:off x="1732155" y="764687"/>
            <a:ext cx="1133061" cy="369332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２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CA30B3-4BD5-02B2-0EEA-C0F2A2C12FE5}"/>
              </a:ext>
            </a:extLst>
          </p:cNvPr>
          <p:cNvSpPr txBox="1"/>
          <p:nvPr/>
        </p:nvSpPr>
        <p:spPr>
          <a:xfrm>
            <a:off x="6350254" y="764687"/>
            <a:ext cx="1133061" cy="369332"/>
          </a:xfrm>
          <a:prstGeom prst="rect">
            <a:avLst/>
          </a:prstGeom>
          <a:solidFill>
            <a:srgbClr val="FFFF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３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968196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BC798-B021-F17F-810F-EC0A43D9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463D4E-F9B8-5290-ED98-074E49BB4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174271"/>
            <a:ext cx="9905997" cy="478387"/>
          </a:xfrm>
        </p:spPr>
        <p:txBody>
          <a:bodyPr/>
          <a:lstStyle/>
          <a:p>
            <a:r>
              <a:rPr kumimoji="1" lang="en-US" altLang="ja-JP" sz="2400" dirty="0"/>
              <a:t>6</a:t>
            </a:r>
            <a:r>
              <a:rPr kumimoji="1" lang="ja-JP" altLang="en-US" sz="2400" dirty="0"/>
              <a:t>．画像ショット：</a:t>
            </a:r>
            <a:r>
              <a:rPr kumimoji="1" lang="en-US" altLang="ja-JP" sz="2400" dirty="0"/>
              <a:t>Sample</a:t>
            </a:r>
            <a:r>
              <a:rPr lang="en-US" altLang="ja-JP" sz="2400" dirty="0"/>
              <a:t>C</a:t>
            </a:r>
            <a:r>
              <a:rPr kumimoji="1" lang="ja-JP" altLang="en-US" sz="2400" dirty="0"/>
              <a:t>（計測表示あり）</a:t>
            </a:r>
            <a:r>
              <a:rPr lang="en-US" altLang="ja-JP" sz="2400" dirty="0"/>
              <a:t>     		  6/7</a:t>
            </a:r>
            <a:r>
              <a:rPr kumimoji="1" lang="ja-JP" altLang="en-US" sz="2400" dirty="0"/>
              <a:t>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A7896A5-65E3-7ECE-0ABF-8BEE217EA3E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12</a:t>
            </a:fld>
            <a:endParaRPr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FC3162D-A7C4-D597-3AD6-EF9BAD34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699723"/>
            <a:ext cx="8033610" cy="585030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1DE4724-859F-F941-643B-271D3071067B}"/>
              </a:ext>
            </a:extLst>
          </p:cNvPr>
          <p:cNvSpPr txBox="1"/>
          <p:nvPr/>
        </p:nvSpPr>
        <p:spPr>
          <a:xfrm>
            <a:off x="1524000" y="701452"/>
            <a:ext cx="1133061" cy="369332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２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B9AED5D-7DCB-6383-9925-D571D191478F}"/>
              </a:ext>
            </a:extLst>
          </p:cNvPr>
          <p:cNvSpPr txBox="1"/>
          <p:nvPr/>
        </p:nvSpPr>
        <p:spPr>
          <a:xfrm>
            <a:off x="6218519" y="701452"/>
            <a:ext cx="1133061" cy="369332"/>
          </a:xfrm>
          <a:prstGeom prst="rect">
            <a:avLst/>
          </a:prstGeom>
          <a:solidFill>
            <a:srgbClr val="FFFF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３</a:t>
            </a:r>
            <a:r>
              <a:rPr kumimoji="1" lang="en-US" altLang="ja-JP" b="1" dirty="0"/>
              <a:t>D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912979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E7856-42F9-06A3-C939-CA1C4E822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FF45D8-8328-4E91-4F22-E26441626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174271"/>
            <a:ext cx="9905997" cy="478387"/>
          </a:xfrm>
        </p:spPr>
        <p:txBody>
          <a:bodyPr/>
          <a:lstStyle/>
          <a:p>
            <a:r>
              <a:rPr kumimoji="1" lang="en-US" altLang="ja-JP" sz="2400" dirty="0"/>
              <a:t>6</a:t>
            </a:r>
            <a:r>
              <a:rPr kumimoji="1" lang="ja-JP" altLang="en-US" sz="2400" dirty="0"/>
              <a:t>．画像ショット：</a:t>
            </a:r>
            <a:r>
              <a:rPr kumimoji="1" lang="en-US" altLang="ja-JP" sz="2400" dirty="0"/>
              <a:t>Sample</a:t>
            </a:r>
            <a:r>
              <a:rPr lang="en-US" altLang="ja-JP" sz="2400" dirty="0"/>
              <a:t>C</a:t>
            </a:r>
            <a:r>
              <a:rPr kumimoji="1" lang="ja-JP" altLang="en-US" sz="2400" dirty="0"/>
              <a:t>（</a:t>
            </a:r>
            <a:r>
              <a:rPr lang="ja-JP" altLang="en-US" sz="2400" dirty="0">
                <a:solidFill>
                  <a:srgbClr val="FF0000"/>
                </a:solidFill>
              </a:rPr>
              <a:t>赤枠部分の窪みについて</a:t>
            </a:r>
            <a:r>
              <a:rPr kumimoji="1" lang="ja-JP" altLang="en-US" sz="2400" dirty="0"/>
              <a:t>）</a:t>
            </a:r>
            <a:r>
              <a:rPr lang="en-US" altLang="ja-JP" sz="2400" dirty="0"/>
              <a:t>	</a:t>
            </a:r>
            <a:r>
              <a:rPr lang="en-US" altLang="ja-JP" sz="2400"/>
              <a:t>  7/7</a:t>
            </a:r>
            <a:r>
              <a:rPr kumimoji="1" lang="ja-JP" altLang="en-US" sz="2400" dirty="0"/>
              <a:t>                              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7326F45-EB21-A64F-DBA0-8936A13C90B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C75CB6F-FB98-4479-AC00-2C6B2AB57C12}" type="slidenum">
              <a:rPr lang="ja-JP" altLang="en-US" smtClean="0"/>
              <a:pPr>
                <a:defRPr/>
              </a:pPr>
              <a:t>13</a:t>
            </a:fld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68D2A6C-D6CB-002A-A3A5-9B8D5787BD56}"/>
              </a:ext>
            </a:extLst>
          </p:cNvPr>
          <p:cNvSpPr txBox="1"/>
          <p:nvPr/>
        </p:nvSpPr>
        <p:spPr>
          <a:xfrm>
            <a:off x="46383" y="843074"/>
            <a:ext cx="96953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u="sng" dirty="0">
                <a:solidFill>
                  <a:srgbClr val="0070C0"/>
                </a:solidFill>
              </a:rPr>
              <a:t>下記の赤枠部分に窪みがある理由：</a:t>
            </a:r>
            <a:endParaRPr lang="en-US" altLang="ja-JP" sz="2000" u="sng" dirty="0">
              <a:solidFill>
                <a:srgbClr val="0070C0"/>
              </a:solidFill>
            </a:endParaRPr>
          </a:p>
          <a:p>
            <a:r>
              <a:rPr lang="ja-JP" altLang="en-US" sz="2000" dirty="0">
                <a:solidFill>
                  <a:srgbClr val="0070C0"/>
                </a:solidFill>
              </a:rPr>
              <a:t>　　右から見た</a:t>
            </a:r>
            <a:r>
              <a:rPr lang="ja-JP" altLang="en-US" sz="2000" dirty="0">
                <a:solidFill>
                  <a:srgbClr val="00B050"/>
                </a:solidFill>
              </a:rPr>
              <a:t>緑ライン</a:t>
            </a:r>
            <a:r>
              <a:rPr lang="ja-JP" altLang="en-US" sz="2000" dirty="0">
                <a:solidFill>
                  <a:srgbClr val="0070C0"/>
                </a:solidFill>
              </a:rPr>
              <a:t>でクリッピングしているため、窪んだように見えますが</a:t>
            </a:r>
            <a:endParaRPr lang="en-US" altLang="ja-JP" sz="2000" dirty="0">
              <a:solidFill>
                <a:srgbClr val="0070C0"/>
              </a:solidFill>
            </a:endParaRPr>
          </a:p>
          <a:p>
            <a:r>
              <a:rPr lang="ja-JP" altLang="en-US" sz="2000" dirty="0">
                <a:solidFill>
                  <a:srgbClr val="0070C0"/>
                </a:solidFill>
              </a:rPr>
              <a:t>　問題はなく正常なデータです。</a:t>
            </a:r>
            <a:endParaRPr lang="en-US" altLang="ja-JP" sz="2000" dirty="0">
              <a:solidFill>
                <a:srgbClr val="0070C0"/>
              </a:solidFill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ED8398B0-C469-4C0F-5873-A9095EF5D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742" y="1689295"/>
            <a:ext cx="3353570" cy="4860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53573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50000"/>
          </a:schemeClr>
        </a:solidFill>
        <a:ln>
          <a:solidFill>
            <a:schemeClr val="bg1">
              <a:lumMod val="50000"/>
            </a:schemeClr>
          </a:solidFill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bg1">
              <a:lumMod val="50000"/>
            </a:schemeClr>
          </a:solidFill>
          <a:headEnd type="none" w="med" len="med"/>
          <a:tailEnd type="arrow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JOHNANテンプレート" id="{7D8F5FCE-8990-4BF6-A758-4C9BC5184C5C}" vid="{BF8CA300-2533-40AD-A252-1D256A4A49F9}"/>
    </a:ext>
  </a:extLst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Johnanテンプレート</Template>
  <TotalTime>18287</TotalTime>
  <Words>463</Words>
  <Application>Microsoft Office PowerPoint</Application>
  <PresentationFormat>A4 210 x 297 mm</PresentationFormat>
  <Paragraphs>65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小塚明朝 Pro H</vt:lpstr>
      <vt:lpstr>小塚明朝 Pro R</vt:lpstr>
      <vt:lpstr>Arial</vt:lpstr>
      <vt:lpstr>Calibri</vt:lpstr>
      <vt:lpstr>Quattrocento Sans</vt:lpstr>
      <vt:lpstr>Segoe UI</vt:lpstr>
      <vt:lpstr>テーマ1</vt:lpstr>
      <vt:lpstr>サンプル撮影報告書</vt:lpstr>
      <vt:lpstr>1．撮影目的</vt:lpstr>
      <vt:lpstr>2．撮影概要</vt:lpstr>
      <vt:lpstr>3．撮影条件</vt:lpstr>
      <vt:lpstr>4．解析プロセス ー 全プロセスの概要説明　　</vt:lpstr>
      <vt:lpstr>5．結果                              </vt:lpstr>
      <vt:lpstr>6．画像ショット                              </vt:lpstr>
      <vt:lpstr>6．画像ショット：SampleA（計測表示なし）         1/7                              </vt:lpstr>
      <vt:lpstr>6．画像ショット：SampleA（計測表示あり）         2/7                              </vt:lpstr>
      <vt:lpstr>6．画像ショット：SampleB（計測表示なし）         3/7                              </vt:lpstr>
      <vt:lpstr>6．画像ショット：SampleB（計測表示あり）         4/7                              </vt:lpstr>
      <vt:lpstr>6．画像ショット：SampleC（計測表示なし）         5/7                              </vt:lpstr>
      <vt:lpstr>6．画像ショット：SampleC（計測表示あり）         6/7                              </vt:lpstr>
      <vt:lpstr>6．画像ショット：SampleC（赤枠部分の窪みについて）   7/7                              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サンプル撮影報告書</dc:title>
  <dc:creator>平島一郎</dc:creator>
  <cp:lastModifiedBy>一郎 平島</cp:lastModifiedBy>
  <cp:revision>801</cp:revision>
  <cp:lastPrinted>2026-01-30T04:27:13Z</cp:lastPrinted>
  <dcterms:created xsi:type="dcterms:W3CDTF">2019-10-29T05:31:10Z</dcterms:created>
  <dcterms:modified xsi:type="dcterms:W3CDTF">2026-06-19T08:52:40Z</dcterms:modified>
</cp:coreProperties>
</file>